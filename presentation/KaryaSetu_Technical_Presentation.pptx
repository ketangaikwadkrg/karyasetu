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20624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SMART INDIA HACKATHON 2026  •  PS ID: SIH 26154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365760"/>
            <a:ext cx="310896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THEME: BLOCKCHAIN &amp; CYBERSECURITY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365760"/>
            <a:ext cx="3230575" cy="292608"/>
          </a:xfrm>
          <a:prstGeom prst="round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TEAM ID: 135343  •  TEAM: KARYASETU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220"/>
                </a:solidFill>
              </a:defRPr>
            </a:pPr>
            <a:r>
              <a:t>KARYASETU AI (कार्यसेतु)</a:t>
            </a:r>
          </a:p>
          <a:p>
            <a:pPr>
              <a:spcAft>
                <a:spcPts val="200"/>
              </a:spcAft>
              <a:defRPr sz="1350" b="1">
                <a:solidFill>
                  <a:srgbClr val="0891B2"/>
                </a:solidFill>
              </a:defRPr>
            </a:pPr>
            <a:r>
              <a:t>Zero-Trust Gen AI Platform for Governed Content Transformation, Dual-Route Orchestration &amp; Decentralized Provenance</a:t>
            </a:r>
          </a:p>
          <a:p>
            <a:pPr>
              <a:defRPr sz="1100" b="0">
                <a:solidFill>
                  <a:srgbClr val="475569"/>
                </a:solidFill>
              </a:defRPr>
            </a:pPr>
            <a:r>
              <a:t>One Trusted Source Document  ➔  Seven Governed, Audience-Tailored, Cryptographically Signed Deliverables in &lt;25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057400" cy="292608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⚡ &lt;25s Synthesis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2057400"/>
            <a:ext cx="205740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🛡️ 0% Cloud Leakage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5776" y="2057400"/>
            <a:ext cx="205740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⛓️ Ethereum Sepolia On-Chain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2904" y="2057400"/>
            <a:ext cx="205740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🔏 Ed25519 Sealed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00032" y="2057400"/>
            <a:ext cx="2057400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💰 &lt; ₹0.25 /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14600"/>
            <a:ext cx="5257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651760"/>
            <a:ext cx="2377440" cy="25603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CRITICAL INDUSTRY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99232"/>
            <a:ext cx="4983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b="1" sz="950">
                <a:solidFill>
                  <a:srgbClr val="E11D48"/>
                </a:solidFill>
              </a:rPr>
              <a:t>✖ Sensitive Data Exposure: </a:t>
            </a:r>
            <a:r>
              <a:rPr sz="880">
                <a:solidFill>
                  <a:srgbClr val="475569"/>
                </a:solidFill>
              </a:rPr>
              <a:t>Confidential enterprise &amp; defense memos cannot be sent to public cloud LLMs (OpenAI/Claude) without violating data sovereignty and compliance laws.</a:t>
            </a:r>
          </a:p>
          <a:p>
            <a:pPr>
              <a:spcAft>
                <a:spcPts val="700"/>
              </a:spcAft>
            </a:pPr>
            <a:r>
              <a:rPr b="1" sz="950">
                <a:solidFill>
                  <a:srgbClr val="E11D48"/>
                </a:solidFill>
              </a:rPr>
              <a:t>✖ Adversarial Prompt Injections: </a:t>
            </a:r>
            <a:r>
              <a:rPr sz="880">
                <a:solidFill>
                  <a:srgbClr val="475569"/>
                </a:solidFill>
              </a:rPr>
              <a:t>Untrusted user documents and embedded indirect prompt instructions hijack downstream transformation pipelines and leak secrets.</a:t>
            </a:r>
          </a:p>
          <a:p>
            <a:pPr>
              <a:spcAft>
                <a:spcPts val="700"/>
              </a:spcAft>
            </a:pPr>
            <a:r>
              <a:rPr b="1" sz="950">
                <a:solidFill>
                  <a:srgbClr val="E11D48"/>
                </a:solidFill>
              </a:rPr>
              <a:t>✖ Ungrounded Hallucinations: </a:t>
            </a:r>
            <a:r>
              <a:rPr sz="880">
                <a:solidFill>
                  <a:srgbClr val="475569"/>
                </a:solidFill>
              </a:rPr>
              <a:t>Generative AI invents fictitious metrics and unverified claims when unanchored to exact source citation offsets.</a:t>
            </a:r>
          </a:p>
          <a:p>
            <a:pPr>
              <a:spcAft>
                <a:spcPts val="700"/>
              </a:spcAft>
            </a:pPr>
            <a:r>
              <a:rPr b="1" sz="950">
                <a:solidFill>
                  <a:srgbClr val="E11D48"/>
                </a:solidFill>
              </a:rPr>
              <a:t>✖ Inter-Format Cross-Output Drift: </a:t>
            </a:r>
            <a:r>
              <a:rPr sz="880">
                <a:solidFill>
                  <a:srgbClr val="475569"/>
                </a:solidFill>
              </a:rPr>
              <a:t>Manual rewriting into summaries, slides, and advisories leads to severe factual contradictions and metric discrepancies across formats.</a:t>
            </a:r>
          </a:p>
          <a:p>
            <a:pPr>
              <a:spcAft>
                <a:spcPts val="700"/>
              </a:spcAft>
            </a:pPr>
            <a:r>
              <a:rPr b="1" sz="950">
                <a:solidFill>
                  <a:srgbClr val="E11D48"/>
                </a:solidFill>
              </a:rPr>
              <a:t>✖ Severe Manual Labor Bottleneck: </a:t>
            </a:r>
            <a:r>
              <a:rPr sz="880">
                <a:solidFill>
                  <a:srgbClr val="475569"/>
                </a:solidFill>
              </a:rPr>
              <a:t>Teams spend 4–6+ hours per report manually synthesizing, formatting, and vetting collateral for distinct audiences.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514600"/>
            <a:ext cx="5257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36792" y="2651760"/>
            <a:ext cx="292608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KARYASETU ZERO-TRUST INNOVATION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999232"/>
            <a:ext cx="4983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b="1" sz="950">
                <a:solidFill>
                  <a:srgbClr val="10B981"/>
                </a:solidFill>
              </a:rPr>
              <a:t>✔ Dual-Route Air-Gapped AI: </a:t>
            </a:r>
            <a:r>
              <a:rPr sz="880">
                <a:solidFill>
                  <a:srgbClr val="475569"/>
                </a:solidFill>
              </a:rPr>
              <a:t>Deterministic policy gateway enforces 100% offline local LLM execution (Gemma 3 12B) for Restricted/Confidential data; Groq/Gemini for Public.</a:t>
            </a:r>
          </a:p>
          <a:p>
            <a:pPr>
              <a:spcAft>
                <a:spcPts val="700"/>
              </a:spcAft>
            </a:pPr>
            <a:r>
              <a:rPr b="1" sz="950">
                <a:solidFill>
                  <a:srgbClr val="10B981"/>
                </a:solidFill>
              </a:rPr>
              <a:t>✔ Zero-Trust Ingress &amp; DLP Defense: </a:t>
            </a:r>
            <a:r>
              <a:rPr sz="880">
                <a:solidFill>
                  <a:srgbClr val="475569"/>
                </a:solidFill>
              </a:rPr>
              <a:t>Magic-byte verification, local ClamAV anti-malware scan, and deterministic regex PII redaction mask sensitive entities before AI tokenization.</a:t>
            </a:r>
          </a:p>
          <a:p>
            <a:pPr>
              <a:spcAft>
                <a:spcPts val="700"/>
              </a:spcAft>
            </a:pPr>
            <a:r>
              <a:rPr b="1" sz="950">
                <a:solidFill>
                  <a:srgbClr val="10B981"/>
                </a:solidFill>
              </a:rPr>
              <a:t>✔ Evidence-Grounded Vector RAG: </a:t>
            </a:r>
            <a:r>
              <a:rPr sz="880">
                <a:solidFill>
                  <a:srgbClr val="475569"/>
                </a:solidFill>
              </a:rPr>
              <a:t>Dense semantic retrieval in pgvector binds every generated output claim to exact source chunk IDs with SHA-256 digests.</a:t>
            </a:r>
          </a:p>
          <a:p>
            <a:pPr>
              <a:spcAft>
                <a:spcPts val="700"/>
              </a:spcAft>
            </a:pPr>
            <a:r>
              <a:rPr b="1" sz="950">
                <a:solidFill>
                  <a:srgbClr val="10B981"/>
                </a:solidFill>
              </a:rPr>
              <a:t>✔ Single Canonical Fact Brief: </a:t>
            </a:r>
            <a:r>
              <a:rPr sz="880">
                <a:solidFill>
                  <a:srgbClr val="475569"/>
                </a:solidFill>
              </a:rPr>
              <a:t>All 7 deliverables ground to one unified facts model, cross-verified by automated NLI entailment consistency checks to guarantee zero drift.</a:t>
            </a:r>
          </a:p>
          <a:p>
            <a:pPr>
              <a:spcAft>
                <a:spcPts val="700"/>
              </a:spcAft>
            </a:pPr>
            <a:r>
              <a:rPr b="1" sz="950">
                <a:solidFill>
                  <a:srgbClr val="10B981"/>
                </a:solidFill>
              </a:rPr>
              <a:t>✔ Decentralized Blockchain Provenance: </a:t>
            </a:r>
            <a:r>
              <a:rPr sz="880">
                <a:solidFill>
                  <a:srgbClr val="475569"/>
                </a:solidFill>
              </a:rPr>
              <a:t>Every artifact is sealed with SHA-256 digests anchored directly to an Ethereum Sepolia smart contract and signed with Ed25519 keys.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10528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Live Demo: youtu.be/Lhi1ssHBfUk • Contract: 0x8AEf680b6891E7e3cAdCBD4a499AbA1310F87c08 • GitHub: github.com/KetanGaikwadKRG/KaryaSetu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SMART INDIA HACKATHON 2026 • PS ID: SIH 26154 • THEME: BLOCKCHAIN &amp; CYBERSECURITY</a:t>
            </a:r>
          </a:p>
          <a:p>
            <a:pPr>
              <a:defRPr sz="2200" b="1">
                <a:solidFill>
                  <a:srgbClr val="0B1220"/>
                </a:solidFill>
              </a:defRPr>
            </a:pPr>
            <a:r>
              <a:t>PROPOSED SOLUTION: ZERO-TRUST PIPELINE &amp; 7 GOVERNED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728655" cy="2514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417320"/>
            <a:ext cx="3291840" cy="237744"/>
          </a:xfrm>
          <a:prstGeom prst="round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7-STAGE SECURITY &amp; AI ORCHESTRATION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1389888" cy="1554480"/>
          </a:xfrm>
          <a:prstGeom prst="roundRect">
            <a:avLst/>
          </a:prstGeom>
          <a:solidFill>
            <a:srgbClr val="FAFC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783080"/>
            <a:ext cx="1389888" cy="256032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1. SOURCE 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03120"/>
            <a:ext cx="1280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MIME Validation</a:t>
            </a:r>
            <a:br/>
            <a:r>
              <a:t>ClamAV Scan</a:t>
            </a:r>
            <a:br/>
            <a:r>
              <a:t>PDF/DOCX/TXT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2377440"/>
            <a:ext cx="12801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86584" y="1783080"/>
            <a:ext cx="1389888" cy="1554480"/>
          </a:xfrm>
          <a:prstGeom prst="roundRect">
            <a:avLst/>
          </a:prstGeom>
          <a:solidFill>
            <a:srgbClr val="FAFC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86584" y="1783080"/>
            <a:ext cx="1389888" cy="25603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2. DLP &amp; DEFENSE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103120"/>
            <a:ext cx="1280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Deterministic PII</a:t>
            </a:r>
            <a:br/>
            <a:r>
              <a:t>Regex Masking</a:t>
            </a:r>
            <a:br/>
            <a:r>
              <a:t>Prompt Fencing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77440"/>
            <a:ext cx="12801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1783080"/>
            <a:ext cx="1389888" cy="1554480"/>
          </a:xfrm>
          <a:prstGeom prst="roundRect">
            <a:avLst/>
          </a:prstGeom>
          <a:solidFill>
            <a:srgbClr val="FAFC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04488" y="1783080"/>
            <a:ext cx="1389888" cy="25603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3. POLICY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9352" y="2103120"/>
            <a:ext cx="1280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4-Tier Matrix</a:t>
            </a:r>
            <a:br/>
            <a:r>
              <a:t>Zero-LLM Authority</a:t>
            </a:r>
            <a:br/>
            <a:r>
              <a:t>Fail-Closed 403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4376" y="2377440"/>
            <a:ext cx="12801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22392" y="1783080"/>
            <a:ext cx="1389888" cy="1554480"/>
          </a:xfrm>
          <a:prstGeom prst="roundRect">
            <a:avLst/>
          </a:prstGeom>
          <a:solidFill>
            <a:srgbClr val="FAFC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22392" y="1783080"/>
            <a:ext cx="1389888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4. DUAL-ROUTE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7256" y="2103120"/>
            <a:ext cx="1280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Cloud (Groq/Gemini)</a:t>
            </a:r>
            <a:br/>
            <a:r>
              <a:t>Air-Gap (Gemma 3)</a:t>
            </a:r>
            <a:br/>
            <a:r>
              <a:t>Local 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377440"/>
            <a:ext cx="12801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0296" y="1783080"/>
            <a:ext cx="1389888" cy="1554480"/>
          </a:xfrm>
          <a:prstGeom prst="roundRect">
            <a:avLst/>
          </a:prstGeom>
          <a:solidFill>
            <a:srgbClr val="FAFC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0296" y="1783080"/>
            <a:ext cx="1389888" cy="256032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5. RAG RETRIEVAL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103120"/>
            <a:ext cx="1280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pgvector HNSW</a:t>
            </a:r>
            <a:br/>
            <a:r>
              <a:t>Top-k Citation Offsets</a:t>
            </a:r>
            <a:br/>
            <a:r>
              <a:t>Canonical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0184" y="2377440"/>
            <a:ext cx="12801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58200" y="1783080"/>
            <a:ext cx="1389888" cy="1554480"/>
          </a:xfrm>
          <a:prstGeom prst="roundRect">
            <a:avLst/>
          </a:prstGeom>
          <a:solidFill>
            <a:srgbClr val="FAFC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58200" y="1783080"/>
            <a:ext cx="1389888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6. NLI VERIFIER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13064" y="2103120"/>
            <a:ext cx="1280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Claim Auditing</a:t>
            </a:r>
            <a:br/>
            <a:r>
              <a:t>Grounding Scoring</a:t>
            </a:r>
            <a:br/>
            <a:r>
              <a:t>Fact Consistency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48088" y="2377440"/>
            <a:ext cx="12801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76104" y="1783080"/>
            <a:ext cx="1389888" cy="1554480"/>
          </a:xfrm>
          <a:prstGeom prst="roundRect">
            <a:avLst/>
          </a:prstGeom>
          <a:solidFill>
            <a:srgbClr val="FAFCFF"/>
          </a:solidFill>
          <a:ln w="1524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76104" y="1783080"/>
            <a:ext cx="1389888" cy="256032"/>
          </a:xfrm>
          <a:prstGeom prst="round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7. BLOCKCHAIN SEAL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0968" y="2103120"/>
            <a:ext cx="1280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Ethereum Sepolia</a:t>
            </a:r>
            <a:br/>
            <a:r>
              <a:t>SHA-256 Digest</a:t>
            </a:r>
            <a:br/>
            <a:r>
              <a:t>Ed25519 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977639"/>
            <a:ext cx="10728655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8680" y="4069080"/>
            <a:ext cx="3657600" cy="237744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SEVEN GOVERNED, AUDIENCE-TAILORED DELIVERABLES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407408"/>
            <a:ext cx="1444752" cy="2057400"/>
          </a:xfrm>
          <a:prstGeom prst="roundRect">
            <a:avLst/>
          </a:prstGeom>
          <a:solidFill>
            <a:srgbClr val="FDFE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4407408"/>
            <a:ext cx="1444752" cy="237744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1. SUMMARY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" y="4700016"/>
            <a:ext cx="1335024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0284C7"/>
                </a:solidFill>
              </a:defRPr>
            </a:pPr>
            <a:r>
              <a:t>Target: Executive C-Suite</a:t>
            </a:r>
          </a:p>
          <a:p>
            <a:pPr>
              <a:spcAft>
                <a:spcPts val="300"/>
              </a:spcAft>
              <a:defRPr sz="750">
                <a:solidFill>
                  <a:srgbClr val="475569"/>
                </a:solidFill>
              </a:defRPr>
            </a:pPr>
            <a:r>
              <a:t>High-level strategic brief, key metrics, financial &amp; policy impact.</a:t>
            </a:r>
          </a:p>
          <a:p>
            <a:pPr>
              <a:defRPr sz="720" b="1">
                <a:solidFill>
                  <a:srgbClr val="0B1220"/>
                </a:solidFill>
              </a:defRPr>
            </a:pPr>
            <a:r>
              <a:t>Format:</a:t>
            </a:r>
            <a:br/>
            <a:r>
              <a:t>Markdown / Clean Text / DOCX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86584" y="4407408"/>
            <a:ext cx="1444752" cy="2057400"/>
          </a:xfrm>
          <a:prstGeom prst="roundRect">
            <a:avLst/>
          </a:prstGeom>
          <a:solidFill>
            <a:srgbClr val="FDFE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386584" y="4407408"/>
            <a:ext cx="1444752" cy="237744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2. ADVISORY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41448" y="4700016"/>
            <a:ext cx="1335024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E11D48"/>
                </a:solidFill>
              </a:defRPr>
            </a:pPr>
            <a:r>
              <a:t>Target: Technical Teams</a:t>
            </a:r>
          </a:p>
          <a:p>
            <a:pPr>
              <a:spcAft>
                <a:spcPts val="300"/>
              </a:spcAft>
              <a:defRPr sz="750">
                <a:solidFill>
                  <a:srgbClr val="475569"/>
                </a:solidFill>
              </a:defRPr>
            </a:pPr>
            <a:r>
              <a:t>Structured threat/policy advisory, impact ratings, mitigation roadmap.</a:t>
            </a:r>
          </a:p>
          <a:p>
            <a:pPr>
              <a:defRPr sz="720" b="1">
                <a:solidFill>
                  <a:srgbClr val="0B1220"/>
                </a:solidFill>
              </a:defRPr>
            </a:pPr>
            <a:r>
              <a:t>Format:</a:t>
            </a:r>
            <a:br/>
            <a:r>
              <a:t>Standardized Advisory Format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04488" y="4407408"/>
            <a:ext cx="1444752" cy="2057400"/>
          </a:xfrm>
          <a:prstGeom prst="roundRect">
            <a:avLst/>
          </a:prstGeom>
          <a:solidFill>
            <a:srgbClr val="FDFEFF"/>
          </a:solidFill>
          <a:ln w="127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904488" y="4407408"/>
            <a:ext cx="1444752" cy="237744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3. PRESENTATION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59352" y="4700016"/>
            <a:ext cx="1335024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0891B2"/>
                </a:solidFill>
              </a:defRPr>
            </a:pPr>
            <a:r>
              <a:t>Target: Board &amp; Stakeholders</a:t>
            </a:r>
          </a:p>
          <a:p>
            <a:pPr>
              <a:spcAft>
                <a:spcPts val="300"/>
              </a:spcAft>
              <a:defRPr sz="750">
                <a:solidFill>
                  <a:srgbClr val="475569"/>
                </a:solidFill>
              </a:defRPr>
            </a:pPr>
            <a:r>
              <a:t>Structured executive slide deck programmatically compiled into native slides.</a:t>
            </a:r>
          </a:p>
          <a:p>
            <a:pPr>
              <a:defRPr sz="720" b="1">
                <a:solidFill>
                  <a:srgbClr val="0B1220"/>
                </a:solidFill>
              </a:defRPr>
            </a:pPr>
            <a:r>
              <a:t>Format:</a:t>
            </a:r>
            <a:br/>
            <a:r>
              <a:t>Native Microsoft PPTX (.pptx)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22392" y="4407408"/>
            <a:ext cx="1444752" cy="2057400"/>
          </a:xfrm>
          <a:prstGeom prst="roundRect">
            <a:avLst/>
          </a:prstGeom>
          <a:solidFill>
            <a:srgbClr val="FDFE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22392" y="4407408"/>
            <a:ext cx="1444752" cy="23774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4. INFOGRAPHIC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77256" y="4700016"/>
            <a:ext cx="1335024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7C3AED"/>
                </a:solidFill>
              </a:defRPr>
            </a:pPr>
            <a:r>
              <a:t>Target: Broad Audience</a:t>
            </a:r>
          </a:p>
          <a:p>
            <a:pPr>
              <a:spcAft>
                <a:spcPts val="300"/>
              </a:spcAft>
              <a:defRPr sz="750">
                <a:solidFill>
                  <a:srgbClr val="475569"/>
                </a:solidFill>
              </a:defRPr>
            </a:pPr>
            <a:r>
              <a:t>Visual metrics breakdown, hierarchy blueprints, flow diagrams.</a:t>
            </a:r>
          </a:p>
          <a:p>
            <a:pPr>
              <a:defRPr sz="720" b="1">
                <a:solidFill>
                  <a:srgbClr val="0B1220"/>
                </a:solidFill>
              </a:defRPr>
            </a:pPr>
            <a:r>
              <a:t>Format:</a:t>
            </a:r>
            <a:br/>
            <a:r>
              <a:t>Semantic JSON + Scalable SVG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40296" y="4407408"/>
            <a:ext cx="1444752" cy="2057400"/>
          </a:xfrm>
          <a:prstGeom prst="roundRect">
            <a:avLst/>
          </a:prstGeom>
          <a:solidFill>
            <a:srgbClr val="FDFEFF"/>
          </a:solidFill>
          <a:ln w="1270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940296" y="4407408"/>
            <a:ext cx="1444752" cy="237744"/>
          </a:xfrm>
          <a:prstGeom prst="round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5. VIDEO BRIEF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4700016"/>
            <a:ext cx="1335024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0B1220"/>
                </a:solidFill>
              </a:defRPr>
            </a:pPr>
            <a:r>
              <a:t>Target: Media &amp; Production</a:t>
            </a:r>
          </a:p>
          <a:p>
            <a:pPr>
              <a:spcAft>
                <a:spcPts val="300"/>
              </a:spcAft>
              <a:defRPr sz="750">
                <a:solidFill>
                  <a:srgbClr val="475569"/>
                </a:solidFill>
              </a:defRPr>
            </a:pPr>
            <a:r>
              <a:t>Scene-by-scene storyboard (PDF) + synchronized subtitle cue file (.srt).</a:t>
            </a:r>
          </a:p>
          <a:p>
            <a:pPr>
              <a:defRPr sz="720" b="1">
                <a:solidFill>
                  <a:srgbClr val="0B1220"/>
                </a:solidFill>
              </a:defRPr>
            </a:pPr>
            <a:r>
              <a:t>Format:</a:t>
            </a:r>
            <a:br/>
            <a:r>
              <a:t>Storyboard PDF + SRT Subtitles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58200" y="4407408"/>
            <a:ext cx="1444752" cy="2057400"/>
          </a:xfrm>
          <a:prstGeom prst="roundRect">
            <a:avLst/>
          </a:prstGeom>
          <a:solidFill>
            <a:srgbClr val="FDFE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458200" y="4407408"/>
            <a:ext cx="1444752" cy="237744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6. LINKEDIN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3064" y="4700016"/>
            <a:ext cx="1335024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0284C7"/>
                </a:solidFill>
              </a:defRPr>
            </a:pPr>
            <a:r>
              <a:t>Target: Professional Public</a:t>
            </a:r>
          </a:p>
          <a:p>
            <a:pPr>
              <a:spcAft>
                <a:spcPts val="300"/>
              </a:spcAft>
              <a:defRPr sz="750">
                <a:solidFill>
                  <a:srgbClr val="475569"/>
                </a:solidFill>
              </a:defRPr>
            </a:pPr>
            <a:r>
              <a:t>Thought leadership payload, engagement hooks, structured key takeaways.</a:t>
            </a:r>
          </a:p>
          <a:p>
            <a:pPr>
              <a:defRPr sz="720" b="1">
                <a:solidFill>
                  <a:srgbClr val="0B1220"/>
                </a:solidFill>
              </a:defRPr>
            </a:pPr>
            <a:r>
              <a:t>Format:</a:t>
            </a:r>
            <a:br/>
            <a:r>
              <a:t>Social Markdown + Hashtags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76104" y="4407408"/>
            <a:ext cx="1444752" cy="2057400"/>
          </a:xfrm>
          <a:prstGeom prst="roundRect">
            <a:avLst/>
          </a:prstGeom>
          <a:solidFill>
            <a:srgbClr val="FDFE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976104" y="4407408"/>
            <a:ext cx="1444752" cy="23774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7. X THREAD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30968" y="4700016"/>
            <a:ext cx="1335024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10B981"/>
                </a:solidFill>
              </a:defRPr>
            </a:pPr>
            <a:r>
              <a:t>Target: Public / Press</a:t>
            </a:r>
          </a:p>
          <a:p>
            <a:pPr>
              <a:spcAft>
                <a:spcPts val="300"/>
              </a:spcAft>
              <a:defRPr sz="750">
                <a:solidFill>
                  <a:srgbClr val="475569"/>
                </a:solidFill>
              </a:defRPr>
            </a:pPr>
            <a:r>
              <a:t>Sequential 280-char numbered announcement thread for rapid public alerts.</a:t>
            </a:r>
          </a:p>
          <a:p>
            <a:pPr>
              <a:defRPr sz="720" b="1">
                <a:solidFill>
                  <a:srgbClr val="0B1220"/>
                </a:solidFill>
              </a:defRPr>
            </a:pPr>
            <a:r>
              <a:t>Format:</a:t>
            </a:r>
            <a:br/>
            <a:r>
              <a:t>Numbered Multi-Post Thread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SMART INDIA HACKATHON 2026 • PS ID: SIH 26154 • THEME: BLOCKCHAIN &amp; CYBERSECURITY</a:t>
            </a:r>
          </a:p>
          <a:p>
            <a:pPr>
              <a:defRPr sz="2200" b="1">
                <a:solidFill>
                  <a:srgbClr val="0B1220"/>
                </a:solidFill>
              </a:defRPr>
            </a:pPr>
            <a:r>
              <a:t>TECHNICAL APPROACH: 4-TIER ARCHITECTURE &amp; CONCRETE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694944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9728" cy="1188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99032"/>
            <a:ext cx="6583680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0284C7"/>
                </a:solidFill>
              </a:defRPr>
            </a:pPr>
            <a:r>
              <a:t>TIER 1: USER EXPERIENCE &amp; ENTERPRISE CONSOLE</a:t>
            </a:r>
          </a:p>
          <a:p>
            <a:pPr>
              <a:spcAft>
                <a:spcPts val="200"/>
              </a:spcAft>
              <a:defRPr sz="850" b="1">
                <a:solidFill>
                  <a:srgbClr val="0B1220"/>
                </a:solidFill>
              </a:defRPr>
            </a:pPr>
            <a:r>
              <a:t>Stack: Next.js 14 (App Router) • React 18 • TypeScript 5.7 • Tailwind CSS 3.4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Enterprise Trust Cockpit, Live Artifact Inspector, On-Demand Verification Tool, Real-time SSE streaming, and 38s Interactive Architecture Visualizer.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24328"/>
            <a:ext cx="694944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24328"/>
            <a:ext cx="109728" cy="1188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6583680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E11D48"/>
                </a:solidFill>
              </a:defRPr>
            </a:pPr>
            <a:r>
              <a:t>TIER 2: INGRESS DEFENSE, POLICY &amp; ORCHESTRATION GATEWAY</a:t>
            </a:r>
          </a:p>
          <a:p>
            <a:pPr>
              <a:spcAft>
                <a:spcPts val="200"/>
              </a:spcAft>
              <a:defRPr sz="850" b="1">
                <a:solidFill>
                  <a:srgbClr val="0B1220"/>
                </a:solidFill>
              </a:defRPr>
            </a:pPr>
            <a:r>
              <a:t>Stack: FastAPI 0.115 Async • Python 3.12 • Pydantic 2.10 • LangGraph 0.2 • Redis 7 + Python-RQ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MIME magic-byte verification (%PDF-, PK), ClamAV daemon antivirus hooks, regex PII scrubbing (Aadhaar/PAN/Tokens), and deterministic 4-tier policy routing.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22776"/>
            <a:ext cx="694944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922776"/>
            <a:ext cx="109728" cy="1188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995928"/>
            <a:ext cx="6583680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7C3AED"/>
                </a:solidFill>
              </a:defRPr>
            </a:pPr>
            <a:r>
              <a:t>TIER 3: AI INFERENCE, RAG GROUNDING &amp; NLI FACT VERIFICATION</a:t>
            </a:r>
          </a:p>
          <a:p>
            <a:pPr>
              <a:spcAft>
                <a:spcPts val="200"/>
              </a:spcAft>
              <a:defRPr sz="850" b="1">
                <a:solidFill>
                  <a:srgbClr val="0B1220"/>
                </a:solidFill>
              </a:defRPr>
            </a:pPr>
            <a:r>
              <a:t>Stack: Groq (openai/gpt-oss-120b) • Google Gemini API • Local Ollama/vLLM (Gemma 3 12B) • pgvector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Dense semantic retrieval over HNSW index, chunk citation anchors, prompt delimiter fencing, and NLI entailment scoring (SUPPORTED/CONTRADICTED/UNVERIFIED).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21224"/>
            <a:ext cx="694944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5221224"/>
            <a:ext cx="109728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94376"/>
            <a:ext cx="6583680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10B981"/>
                </a:solidFill>
              </a:defRPr>
            </a:pPr>
            <a:r>
              <a:t>TIER 4: STORAGE, DECENTRALIZED PROVENANCE &amp; LEDGER PLANE</a:t>
            </a:r>
          </a:p>
          <a:p>
            <a:pPr>
              <a:spcAft>
                <a:spcPts val="200"/>
              </a:spcAft>
              <a:defRPr sz="850" b="1">
                <a:solidFill>
                  <a:srgbClr val="0B1220"/>
                </a:solidFill>
              </a:defRPr>
            </a:pPr>
            <a:r>
              <a:t>Stack: PostgreSQL 16 + pgvector • MinIO / AWS S3 • Ethereum Sepolia Smart Contract • Ed25519 Web3.py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Immutable SHA-256 artifact digests anchored on Ethereum Sepolia contract (0x8AEf...7c08) with Ed25519 asymmetric signatures (RFC 8032) for non-repudiation.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325880"/>
            <a:ext cx="3596335" cy="5084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01000" y="1463040"/>
            <a:ext cx="3322015" cy="256032"/>
          </a:xfrm>
          <a:prstGeom prst="round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CORE TECHNICAL &amp; SECURITY SPECS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810512"/>
            <a:ext cx="332201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b="1" sz="880">
                <a:solidFill>
                  <a:srgbClr val="0284C7"/>
                </a:solidFill>
              </a:rPr>
              <a:t>▶ Deterministic Policy Routing: </a:t>
            </a:r>
            <a:r>
              <a:rPr sz="800">
                <a:solidFill>
                  <a:srgbClr val="475569"/>
                </a:solidFill>
              </a:rPr>
              <a:t>Zero-LLM Authority: Policy engine is 100% pure Python. It decides whether content can use cloud or air-gapped local endpoints based on PUBLIC, INTERNAL, CONFIDENTIAL, RESTRICTED classification.</a:t>
            </a:r>
          </a:p>
          <a:p>
            <a:pPr>
              <a:spcAft>
                <a:spcPts val="600"/>
              </a:spcAft>
            </a:pPr>
            <a:r>
              <a:rPr b="1" sz="880">
                <a:solidFill>
                  <a:srgbClr val="7C3AED"/>
                </a:solidFill>
              </a:rPr>
              <a:t>▶ Air-Gapped Sovereign Route: </a:t>
            </a:r>
            <a:r>
              <a:rPr sz="800">
                <a:solidFill>
                  <a:srgbClr val="475569"/>
                </a:solidFill>
              </a:rPr>
              <a:t>Sensitive data is physically restricted from cloud API egress; routed strictly to local Ollama / vLLM running Gemma 3 12B with 0% data leakage.</a:t>
            </a:r>
          </a:p>
          <a:p>
            <a:pPr>
              <a:spcAft>
                <a:spcPts val="600"/>
              </a:spcAft>
            </a:pPr>
            <a:r>
              <a:rPr b="1" sz="880">
                <a:solidFill>
                  <a:srgbClr val="10B981"/>
                </a:solidFill>
              </a:rPr>
              <a:t>▶ Fault Isolation Architecture: </a:t>
            </a:r>
            <a:r>
              <a:rPr sz="800">
                <a:solidFill>
                  <a:srgbClr val="475569"/>
                </a:solidFill>
              </a:rPr>
              <a:t>Nested database savepoints isolate individual generator errors. If one deliverable encounters an issue, the remaining 6 continue cleanly.</a:t>
            </a:r>
          </a:p>
          <a:p>
            <a:pPr>
              <a:spcAft>
                <a:spcPts val="600"/>
              </a:spcAft>
            </a:pPr>
            <a:r>
              <a:rPr b="1" sz="880">
                <a:solidFill>
                  <a:srgbClr val="0891B2"/>
                </a:solidFill>
              </a:rPr>
              <a:t>▶ EVM Sepolia Smart Contract: </a:t>
            </a:r>
            <a:r>
              <a:rPr sz="800">
                <a:solidFill>
                  <a:srgbClr val="475569"/>
                </a:solidFill>
              </a:rPr>
              <a:t>Post-generation hook submits 32-byte content digests via Web3.py to Ethereum Sepolia. verifyDigest() enables public tamper detection.</a:t>
            </a:r>
          </a:p>
          <a:p>
            <a:pPr>
              <a:spcAft>
                <a:spcPts val="600"/>
              </a:spcAft>
            </a:pPr>
            <a:r>
              <a:rPr b="1" sz="880">
                <a:solidFill>
                  <a:srgbClr val="D97706"/>
                </a:solidFill>
              </a:rPr>
              <a:t>▶ Automated Fact Verification: </a:t>
            </a:r>
            <a:r>
              <a:rPr sz="800">
                <a:solidFill>
                  <a:srgbClr val="475569"/>
                </a:solidFill>
              </a:rPr>
              <a:t>Natural Language Inference (NLI) cross-checks generated claims against source chunks, scoring grounding from 0.0 to 1.0.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SMART INDIA HACKATHON 2026 • PS ID: SIH 26154 • THEME: BLOCKCHAIN &amp; CYBERSECURITY</a:t>
            </a:r>
          </a:p>
          <a:p>
            <a:pPr>
              <a:defRPr sz="2200" b="1">
                <a:solidFill>
                  <a:srgbClr val="0B1220"/>
                </a:solidFill>
              </a:defRPr>
            </a:pPr>
            <a:r>
              <a:t>FEASIBILITY, OPERATIONAL VIABILITY &amp; RISK SAFEGUARDS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2578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1417320"/>
            <a:ext cx="2926080" cy="219456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TECHNICAL FEASIBILITY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691640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Asynchronous Queue Scaling: </a:t>
            </a:r>
            <a:r>
              <a:rPr sz="800">
                <a:solidFill>
                  <a:srgbClr val="475569"/>
                </a:solidFill>
              </a:rPr>
              <a:t>Redis 7 + Python-RQ workers decouple generation from HTTP requests, eliminating timeouts on heavy PDF/PPTX builds.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Stateful Modular Isolation: </a:t>
            </a:r>
            <a:r>
              <a:rPr sz="800">
                <a:solidFill>
                  <a:srgbClr val="475569"/>
                </a:solidFill>
              </a:rPr>
              <a:t>7 generator adapters execute independently. Failure in one output never crashes remaining siblings.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Hybrid Model Interoperability: </a:t>
            </a:r>
            <a:r>
              <a:rPr sz="800">
                <a:solidFill>
                  <a:srgbClr val="475569"/>
                </a:solidFill>
              </a:rPr>
              <a:t>Provider interface dynamically routes between Groq, Gemini, and local Ollama Gemma 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25880"/>
            <a:ext cx="52578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1928" y="1417320"/>
            <a:ext cx="2926080" cy="219456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SECURITY &amp; COMPLIANCE FEASIBILITY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1691640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NIST SP 800-207 Zero-Trust: </a:t>
            </a:r>
            <a:r>
              <a:rPr sz="800">
                <a:solidFill>
                  <a:srgbClr val="475569"/>
                </a:solidFill>
              </a:rPr>
              <a:t>Pre-flight perimeter inspection: ClamAV anti-malware, magic-byte checks, and regex DLP PII scrubbing.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Air-Gapped Sovereign Enforcement: </a:t>
            </a:r>
            <a:r>
              <a:rPr sz="800">
                <a:solidFill>
                  <a:srgbClr val="475569"/>
                </a:solidFill>
              </a:rPr>
              <a:t>Confidential institutional records physically forbidden from leaving private enclave networks.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Prompt Injection Fencing: </a:t>
            </a:r>
            <a:r>
              <a:rPr sz="800">
                <a:solidFill>
                  <a:srgbClr val="475569"/>
                </a:solidFill>
              </a:rPr>
              <a:t>Strict instruction/data delimiters neutralize indirect prompt injection attacks.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55848"/>
            <a:ext cx="52578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3447288"/>
            <a:ext cx="2926080" cy="21945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OPERATIONAL &amp; WORKFLOW 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721608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Dual-Key Human Approval Gate: </a:t>
            </a:r>
            <a:r>
              <a:rPr sz="800">
                <a:solidFill>
                  <a:srgbClr val="475569"/>
                </a:solidFill>
              </a:rPr>
              <a:t>Mandatory human review checkpoint before external publication or social dissemination.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Destination-Aware Policies: </a:t>
            </a:r>
            <a:r>
              <a:rPr sz="800">
                <a:solidFill>
                  <a:srgbClr val="475569"/>
                </a:solidFill>
              </a:rPr>
              <a:t>Restricted/internal outputs are hard-blocked from public social channels (LinkedIn/X).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SIEM-Ready Structured Audit: </a:t>
            </a:r>
            <a:r>
              <a:rPr sz="800">
                <a:solidFill>
                  <a:srgbClr val="475569"/>
                </a:solidFill>
              </a:rPr>
              <a:t>JSON audit logs capture all authentication, policy decisions, and verification events.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55848"/>
            <a:ext cx="52578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81928" y="3447288"/>
            <a:ext cx="2926080" cy="21945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ECONOMIC &amp; FINANCIAL FEASIBILITY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3721608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Ultra-Low Cost per Transformation: </a:t>
            </a:r>
            <a:r>
              <a:rPr sz="800">
                <a:solidFill>
                  <a:srgbClr val="475569"/>
                </a:solidFill>
              </a:rPr>
              <a:t>Groq / Gemini Flash costs &lt; ₹0.25 per 7-deliverable run; local air-gapped runs cost ₹0.00 in API fees.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Zero External Vector DB Fees: </a:t>
            </a:r>
            <a:r>
              <a:rPr sz="800">
                <a:solidFill>
                  <a:srgbClr val="475569"/>
                </a:solidFill>
              </a:rPr>
              <a:t>Native pgvector inside PostgreSQL 16 eliminates costly third-party Pinecone/Weaviate subscriptions.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B1220"/>
                </a:solidFill>
              </a:rPr>
              <a:t>• Massive 98%+ Operational ROI: </a:t>
            </a:r>
            <a:r>
              <a:rPr sz="800">
                <a:solidFill>
                  <a:srgbClr val="475569"/>
                </a:solidFill>
              </a:rPr>
              <a:t>Replaces 4–6+ hours of human specialist synthesis with &lt;25s automated execution.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40680"/>
            <a:ext cx="10728655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285232"/>
            <a:ext cx="3291840" cy="219456"/>
          </a:xfrm>
          <a:prstGeom prst="round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SECURITY &amp; OPERATIONAL RISK MITIGATION MATRIX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5559552"/>
          <a:ext cx="10515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6309360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Potential Risk Factor</a:t>
                      </a:r>
                    </a:p>
                  </a:txBody>
                  <a:tcPr anchor="ctr" marL="73152" marR="73152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System Vulnerability</a:t>
                      </a:r>
                    </a:p>
                  </a:txBody>
                  <a:tcPr anchor="ctr" marL="73152" marR="73152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KaryaSetu Concrete Mitigation Strategy</a:t>
                      </a:r>
                    </a:p>
                  </a:txBody>
                  <a:tcPr anchor="ctr" marL="73152" marR="73152" marT="45720" marB="45720">
                    <a:solidFill>
                      <a:srgbClr val="0B1220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750" b="1">
                          <a:solidFill>
                            <a:srgbClr val="E11D48"/>
                          </a:solidFill>
                        </a:defRPr>
                      </a:pPr>
                      <a:r>
                        <a:t>Prompt Injection &amp; Hijacking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475569"/>
                          </a:solidFill>
                        </a:defRPr>
                      </a:pPr>
                      <a:r>
                        <a:t>Embedded commands inside untrusted files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F172A"/>
                          </a:solidFill>
                        </a:defRPr>
                      </a:pPr>
                      <a:r>
                        <a:t>Strict delimiter encapsulation (&lt;source_data&gt;), tag neutralization, and input size clamping.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750" b="1">
                          <a:solidFill>
                            <a:srgbClr val="E11D48"/>
                          </a:solidFill>
                        </a:defRPr>
                      </a:pPr>
                      <a:r>
                        <a:t>Factual Hallucination &amp; Drift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475569"/>
                          </a:solidFill>
                        </a:defRPr>
                      </a:pPr>
                      <a:r>
                        <a:t>Generators invent numbers/entities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F172A"/>
                          </a:solidFill>
                        </a:defRPr>
                      </a:pPr>
                      <a:r>
                        <a:t>pgvector chunk-level citation anchoring + automated NLI entailment cross-verification.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750" b="1">
                          <a:solidFill>
                            <a:srgbClr val="E11D48"/>
                          </a:solidFill>
                        </a:defRPr>
                      </a:pPr>
                      <a:r>
                        <a:t>Confidential Data Exfiltration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475569"/>
                          </a:solidFill>
                        </a:defRPr>
                      </a:pPr>
                      <a:r>
                        <a:t>Sensitive data egress to public cloud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F172A"/>
                          </a:solidFill>
                        </a:defRPr>
                      </a:pPr>
                      <a:r>
                        <a:t>Deterministic Python policy gate (zero LLM discretion); fails closed with HTTP 403 Forbidden.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750" b="1">
                          <a:solidFill>
                            <a:srgbClr val="E11D48"/>
                          </a:solidFill>
                        </a:defRPr>
                      </a:pPr>
                      <a:r>
                        <a:t>Post-Generation Deliverable Tamper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475569"/>
                          </a:solidFill>
                        </a:defRPr>
                      </a:pPr>
                      <a:r>
                        <a:t>Unauthorized document alteration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F172A"/>
                          </a:solidFill>
                        </a:defRPr>
                      </a:pPr>
                      <a:r>
                        <a:t>Immutable SHA-256 hash anchored to Ethereum Sepolia smart contract + Ed25519 signature.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SMART INDIA HACKATHON 2026 • PS ID: SIH 26154 • THEME: BLOCKCHAIN &amp; CYBERSECURITY</a:t>
            </a:r>
          </a:p>
          <a:p>
            <a:pPr>
              <a:defRPr sz="2200" b="1">
                <a:solidFill>
                  <a:srgbClr val="0B1220"/>
                </a:solidFill>
              </a:defRPr>
            </a:pPr>
            <a:r>
              <a:t>INSTITUTIONAL IMPACT, COST STRUCTURE &amp; VERIFIABLE PROOF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66928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444752"/>
            <a:ext cx="3840480" cy="23774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ECONOMIC VIABILITY &amp; OPERATIONAL COST BREAKDOWN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1783080"/>
          <a:ext cx="5440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280160"/>
                <a:gridCol w="1188720"/>
                <a:gridCol w="1463040"/>
              </a:tblGrid>
              <a:tr h="388620">
                <a:tc>
                  <a:txBody>
                    <a:bodyPr wrap="square"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Platform Component</a:t>
                      </a:r>
                    </a:p>
                  </a:txBody>
                  <a:tcPr anchor="ctr" marL="73152" marR="73152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Unit / Monthly Cost</a:t>
                      </a:r>
                    </a:p>
                  </a:txBody>
                  <a:tcPr anchor="ctr" marL="73152" marR="73152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Cost / 100 Runs</a:t>
                      </a:r>
                    </a:p>
                  </a:txBody>
                  <a:tcPr anchor="ctr" marL="73152" marR="73152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Operational Notes</a:t>
                      </a:r>
                    </a:p>
                  </a:txBody>
                  <a:tcPr anchor="ctr" marL="73152" marR="73152" marT="45720" marB="45720">
                    <a:solidFill>
                      <a:srgbClr val="0B1220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B1220"/>
                          </a:solidFill>
                        </a:defRPr>
                      </a:pPr>
                      <a:r>
                        <a:t>Cloud LLM (Public Tier)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Groq/Gemini (~$0.08/1M)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0284C7"/>
                          </a:solidFill>
                        </a:defRPr>
                      </a:pPr>
                      <a:r>
                        <a:t>~$0.60 – $1.20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Generates all 7 deliverables per doc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B1220"/>
                          </a:solidFill>
                        </a:defRPr>
                      </a:pPr>
                      <a:r>
                        <a:t>Air-Gapped LLM (Confidential)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Local Gemma 3 12B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0284C7"/>
                          </a:solidFill>
                        </a:defRPr>
                      </a:pPr>
                      <a:r>
                        <a:t>$0.00 (Self-hosted)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Runs on existing enterprise GPUs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B1220"/>
                          </a:solidFill>
                        </a:defRPr>
                      </a:pPr>
                      <a:r>
                        <a:t>Blockchain Provenance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Sepolia Testnet / Polygon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0284C7"/>
                          </a:solidFill>
                        </a:defRPr>
                      </a:pPr>
                      <a:r>
                        <a:t>&lt;$0.15 (~₹12 total)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45k gas per 32-byte digest anchor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B1220"/>
                          </a:solidFill>
                        </a:defRPr>
                      </a:pPr>
                      <a:r>
                        <a:t>Compute Infrastructure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Cloud VPS (2 vCPU, 4GB)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0284C7"/>
                          </a:solidFill>
                        </a:defRPr>
                      </a:pPr>
                      <a:r>
                        <a:t>~$15 – $25 / month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Horizontally scalable RQ workers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B1220"/>
                          </a:solidFill>
                        </a:defRPr>
                      </a:pPr>
                      <a:r>
                        <a:t>Vector &amp; Relational DB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PostgreSQL 16 + pgvector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0284C7"/>
                          </a:solidFill>
                        </a:defRPr>
                      </a:pPr>
                      <a:r>
                        <a:t>~$0 – $25 / month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In-database HNSW cosine search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>
                        <a:defRPr sz="750" b="0">
                          <a:solidFill>
                            <a:srgbClr val="0B1220"/>
                          </a:solidFill>
                        </a:defRPr>
                      </a:pPr>
                      <a:r>
                        <a:t>Object Storage (Artifacts)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MinIO / S3 on-premise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0284C7"/>
                          </a:solidFill>
                        </a:defRPr>
                      </a:pPr>
                      <a:r>
                        <a:t>~$1 – $5 / month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Encrypted storage for PPTX/PDF/SVG</a:t>
                      </a:r>
                    </a:p>
                  </a:txBody>
                  <a:tcPr anchor="ctr" marL="73152" marR="73152" marT="45720" marB="45720"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>
                        <a:defRPr sz="750" b="1">
                          <a:solidFill>
                            <a:srgbClr val="10B981"/>
                          </a:solidFill>
                        </a:defRPr>
                      </a:pPr>
                      <a:r>
                        <a:t>TOTAL RUN COST</a:t>
                      </a:r>
                    </a:p>
                  </a:txBody>
                  <a:tcPr anchor="ctr" marL="73152" marR="73152" marT="45720" marB="45720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1">
                          <a:solidFill>
                            <a:srgbClr val="0B1220"/>
                          </a:solidFill>
                        </a:defRPr>
                      </a:pPr>
                      <a:r>
                        <a:t>&lt; ₹0.25 / Document Run</a:t>
                      </a:r>
                    </a:p>
                  </a:txBody>
                  <a:tcPr anchor="ctr" marL="73152" marR="73152" marT="45720" marB="45720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1">
                          <a:solidFill>
                            <a:srgbClr val="10B981"/>
                          </a:solidFill>
                        </a:defRPr>
                      </a:pPr>
                      <a:r>
                        <a:t>~$1.00 – $2.00 total</a:t>
                      </a:r>
                    </a:p>
                  </a:txBody>
                  <a:tcPr anchor="ctr" marL="73152" marR="73152" marT="45720" marB="45720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20" b="0">
                          <a:solidFill>
                            <a:srgbClr val="475569"/>
                          </a:solidFill>
                        </a:defRPr>
                      </a:pPr>
                      <a:r>
                        <a:t>Massive &gt;98% cost savings vs manual</a:t>
                      </a:r>
                    </a:p>
                  </a:txBody>
                  <a:tcPr anchor="ctr" marL="73152" marR="73152" marT="45720" marB="45720"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5029200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19">
                <a:solidFill>
                  <a:srgbClr val="0B1220"/>
                </a:solidFill>
              </a:defRPr>
            </a:pPr>
            <a:r>
              <a:t>💰 Business ROI Impact: Manual human synthesis of 500 documents/month consumes ~250 hours costing ₹2,50,000+. With KaryaSetu AI, the identical volume completes in under 5 hours total review time at ~₹3,500 total infrastructure cost (&gt;95% operational ROI).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325880"/>
            <a:ext cx="4876495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20840" y="1444752"/>
            <a:ext cx="3291840" cy="237744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QUANTIFIABLE INSTITUTIONAL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75564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b="1" sz="850">
                <a:solidFill>
                  <a:srgbClr val="0284C7"/>
                </a:solidFill>
              </a:rPr>
              <a:t>★ 10x Acceleration in Synthesis: </a:t>
            </a:r>
            <a:r>
              <a:rPr sz="800">
                <a:solidFill>
                  <a:srgbClr val="475569"/>
                </a:solidFill>
              </a:rPr>
              <a:t>Transforms 50+ page technical briefs into 7 audience deliverables in under 25 seconds.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0284C7"/>
                </a:solidFill>
              </a:rPr>
              <a:t>★ Zero Data Leakage Guarantee: </a:t>
            </a:r>
            <a:r>
              <a:rPr sz="800">
                <a:solidFill>
                  <a:srgbClr val="475569"/>
                </a:solidFill>
              </a:rPr>
              <a:t>Rigid deterministic policy enforcement prevents classified national intelligence from leaving sovereign infrastructure.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0284C7"/>
                </a:solidFill>
              </a:rPr>
              <a:t>★ Elimination of Multi-Channel Drift: </a:t>
            </a:r>
            <a:r>
              <a:rPr sz="800">
                <a:solidFill>
                  <a:srgbClr val="475569"/>
                </a:solidFill>
              </a:rPr>
              <a:t>All deliverables ground to a single canonical fact brief with automated NLI consistency cross-checks.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0284C7"/>
                </a:solidFill>
              </a:rPr>
              <a:t>★ Complete Tamper Detection: </a:t>
            </a:r>
            <a:r>
              <a:rPr sz="800">
                <a:solidFill>
                  <a:srgbClr val="475569"/>
                </a:solidFill>
              </a:rPr>
              <a:t>Ethereum Sepolia smart contract anchoring ensures post-generation deliverable integrity.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3886200"/>
            <a:ext cx="4876495" cy="2560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20840" y="4005072"/>
            <a:ext cx="3291840" cy="237744"/>
          </a:xfrm>
          <a:prstGeom prst="round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LIVE VERIFICATION LINKS &amp; CITED STANDARDS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315968"/>
            <a:ext cx="45720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b="1" sz="819">
                <a:solidFill>
                  <a:srgbClr val="0B1220"/>
                </a:solidFill>
              </a:rPr>
              <a:t>🔗 Smart Contract (Sepolia Etherscan): </a:t>
            </a:r>
            <a:r>
              <a:rPr sz="780" u="sng">
                <a:solidFill>
                  <a:srgbClr val="0284C7"/>
                </a:solidFill>
              </a:rPr>
              <a:t>0x8AEf680b6891E7e3cAdCBD4a499AbA1310F87c08</a:t>
            </a:r>
          </a:p>
          <a:p>
            <a:pPr>
              <a:spcAft>
                <a:spcPts val="300"/>
              </a:spcAft>
            </a:pPr>
            <a:r>
              <a:rPr b="1" sz="819">
                <a:solidFill>
                  <a:srgbClr val="0B1220"/>
                </a:solidFill>
              </a:rPr>
              <a:t>🔗 Relayer Signer Identity: </a:t>
            </a:r>
            <a:r>
              <a:rPr sz="780" u="sng">
                <a:solidFill>
                  <a:srgbClr val="0284C7"/>
                </a:solidFill>
              </a:rPr>
              <a:t>0x460bb6AE2AD8a515d5E2886c69b78d8e3C2FBc41</a:t>
            </a:r>
          </a:p>
          <a:p>
            <a:pPr>
              <a:spcAft>
                <a:spcPts val="300"/>
              </a:spcAft>
            </a:pPr>
            <a:r>
              <a:rPr b="1" sz="819">
                <a:solidFill>
                  <a:srgbClr val="0B1220"/>
                </a:solidFill>
              </a:rPr>
              <a:t>🔗 GitHub Repository: </a:t>
            </a:r>
            <a:r>
              <a:rPr sz="780" u="sng">
                <a:solidFill>
                  <a:srgbClr val="0284C7"/>
                </a:solidFill>
              </a:rPr>
              <a:t>https://github.com/KetanGaikwadKRG/KaryaSetu</a:t>
            </a:r>
          </a:p>
          <a:p>
            <a:pPr>
              <a:spcAft>
                <a:spcPts val="300"/>
              </a:spcAft>
            </a:pPr>
            <a:r>
              <a:rPr b="1" sz="819">
                <a:solidFill>
                  <a:srgbClr val="0B1220"/>
                </a:solidFill>
              </a:rPr>
              <a:t>🔗 Official Evaluation Video: </a:t>
            </a:r>
            <a:r>
              <a:rPr sz="780" u="sng">
                <a:solidFill>
                  <a:srgbClr val="0284C7"/>
                </a:solidFill>
              </a:rPr>
              <a:t>https://youtu.be/Lhi1ssHBfUk?si=T5bIOl2TWDeIf7DJ</a:t>
            </a:r>
          </a:p>
          <a:p>
            <a:pPr>
              <a:spcAft>
                <a:spcPts val="300"/>
              </a:spcAft>
            </a:pPr>
            <a:r>
              <a:rPr b="1" sz="819">
                <a:solidFill>
                  <a:srgbClr val="0B1220"/>
                </a:solidFill>
              </a:rPr>
              <a:t>🔗 Cited Standards &amp; Literature: </a:t>
            </a:r>
            <a:r>
              <a:rPr sz="780">
                <a:solidFill>
                  <a:srgbClr val="475569"/>
                </a:solidFill>
              </a:rPr>
              <a:t>NIST SP 800-207 (Zero Trust) • RFC 8032 (Ed25519) • W3C PROV-DM • IT Act Section 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