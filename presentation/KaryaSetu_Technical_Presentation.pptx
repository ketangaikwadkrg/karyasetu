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284C7"/>
                </a:solidFill>
              </a:defRPr>
            </a:pPr>
            <a:r>
              <a:t>SMART INDIA HACKATHON 2026 • THEME: BLOCKCHAIN &amp; CYBERSECURITY (PS ID: SIH 26154)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KARYASETU AI</a:t>
            </a:r>
          </a:p>
          <a:p>
            <a:pPr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Gen AI Platform for Automated Content Transformation</a:t>
            </a:r>
          </a:p>
          <a:p>
            <a:pPr>
              <a:defRPr sz="1300" i="1">
                <a:solidFill>
                  <a:srgbClr val="475569"/>
                </a:solidFill>
              </a:defRPr>
            </a:pPr>
            <a:r>
              <a:t>One Trusted Source → Seven Governed, Audience-Ready Deliverables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651760"/>
            <a:ext cx="51206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A580C"/>
                </a:solidFill>
              </a:defRPr>
            </a:pPr>
            <a:r>
              <a:t>THE PROBLEM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Sensitive Data Exposure: </a:t>
            </a:r>
            <a:r>
              <a:rPr sz="1050">
                <a:solidFill>
                  <a:srgbClr val="475569"/>
                </a:solidFill>
              </a:rPr>
              <a:t>Confidential institutional records sent indiscriminately to external cloud LLMs violate data sovereignty regulations.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Prompt Injection &amp; Manipulation: </a:t>
            </a:r>
            <a:r>
              <a:rPr sz="1050">
                <a:solidFill>
                  <a:srgbClr val="475569"/>
                </a:solidFill>
              </a:rPr>
              <a:t>Untrusted text and malicious instructions can hijack transformation workflows and leak secrets.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Untrusted &amp; Floating Evidence: </a:t>
            </a:r>
            <a:r>
              <a:rPr sz="1050">
                <a:solidFill>
                  <a:srgbClr val="475569"/>
                </a:solidFill>
              </a:rPr>
              <a:t>Standard RAG models retrieve unverified context, hallucinate citations, and lack factual grounding.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Cross-Output Fact Drift: </a:t>
            </a:r>
            <a:r>
              <a:rPr sz="1050">
                <a:solidFill>
                  <a:srgbClr val="475569"/>
                </a:solidFill>
              </a:rPr>
              <a:t>Multi-audience collateral (press releases, decks, briefs) diverges in numeric metrics and key findings.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• Manual Transformation Friction: </a:t>
            </a:r>
            <a:r>
              <a:rPr sz="1050">
                <a:solidFill>
                  <a:srgbClr val="475569"/>
                </a:solidFill>
              </a:rPr>
              <a:t>Converting complex source documents into audience-ready outputs requires days of error-prone human rework.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651760"/>
            <a:ext cx="5120640" cy="36576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28346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284C7"/>
                </a:solidFill>
              </a:defRPr>
            </a:pPr>
            <a:r>
              <a:t>THE KARYASETU SOLUTION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✓ Policy-Controlled Provider Routing: </a:t>
            </a:r>
            <a:r>
              <a:rPr sz="1050">
                <a:solidFill>
                  <a:srgbClr val="475569"/>
                </a:solidFill>
              </a:rPr>
              <a:t>Deterministic zero-LLM classification (PUBLIC, INTERNAL, CONFIDENTIAL, RESTRICTED). Air-gaps sensitive data.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✓ Evidence-Grounded RAG: </a:t>
            </a:r>
            <a:r>
              <a:rPr sz="1050">
                <a:solidFill>
                  <a:srgbClr val="475569"/>
                </a:solidFill>
              </a:rPr>
              <a:t>Source chunks anchored via vector embeddings. Synthesizes a unified canonical semantic brief once for all generators.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✓ 7 Audience-Specific Generators: </a:t>
            </a:r>
            <a:r>
              <a:rPr sz="1050">
                <a:solidFill>
                  <a:srgbClr val="475569"/>
                </a:solidFill>
              </a:rPr>
              <a:t>Produces Summary, LinkedIn, Advisory, PPTX deck, X thread, Infographic (PNG/PDF), and Video Package (PDF/SRT).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✓ Dual-Layer Fact Verification: </a:t>
            </a:r>
            <a:r>
              <a:rPr sz="1050">
                <a:solidFill>
                  <a:srgbClr val="475569"/>
                </a:solidFill>
              </a:rPr>
              <a:t>Deterministic numeric mismatch, date conflict, and lexical overlap auditing. Bounded schema regeneration on format errors.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F172A"/>
                </a:solidFill>
              </a:rPr>
              <a:t>✓ Human Approval &amp; Cryptographic Trust: </a:t>
            </a:r>
            <a:r>
              <a:rPr sz="1050">
                <a:solidFill>
                  <a:srgbClr val="475569"/>
                </a:solidFill>
              </a:rPr>
              <a:t>Human-in-the-loop sign-off before external release, sealed with SHA-256 digests and Ed25519 digital signatures.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</a:defRPr>
            </a:pPr>
            <a:r>
              <a:t>SIH 26154 • BLOCKCHAIN &amp; CYBERSECURITY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TECHNICAL ARCHITECTURE: 5-TIER MODULAR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7498079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17904"/>
            <a:ext cx="72237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284C7"/>
                </a:solidFill>
              </a:rPr>
              <a:t>TIER 1: USER ENTRY &amp; DASHBOARD  </a:t>
            </a:r>
            <a:r>
              <a:rPr sz="950" b="1">
                <a:solidFill>
                  <a:srgbClr val="7C3AED"/>
                </a:solidFill>
              </a:rPr>
              <a:t>[Next.js 14 • React • TypeScript • Tailwind CSS]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Stitch enterprise UI console with 4-stage creation workflow (Input Workspace → Configuration → Output Packages → Review &amp; Dispatch). Real-time progress tracking and artifact inspection.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7498079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86584"/>
            <a:ext cx="72237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284C7"/>
                </a:solidFill>
              </a:rPr>
              <a:t>TIER 2: SECURE INGESTION GATE  </a:t>
            </a:r>
            <a:r>
              <a:rPr sz="950" b="1">
                <a:solidFill>
                  <a:srgbClr val="7C3AED"/>
                </a:solidFill>
              </a:rPr>
              <a:t>[Magic Bytes • ClamAV Scanner • PII Detector]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Validates MIME signatures (%PDF-, PK\x03\x04) to prevent type-confusion attacks. Local ClamAV anti-malware scan fails closed. Regex PII scanning redacts sensitive personal identifiers.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7498079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55264"/>
            <a:ext cx="72237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284C7"/>
                </a:solidFill>
              </a:rPr>
              <a:t>TIER 3: POLICY &amp; CLASSIFICATION ENGINE  </a:t>
            </a:r>
            <a:r>
              <a:rPr sz="950" b="1">
                <a:solidFill>
                  <a:srgbClr val="7C3AED"/>
                </a:solidFill>
              </a:rPr>
              <a:t>[Deterministic Zero-LLM Policy Engine &amp; Router]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Strict governance: 'LLM May Recommend, Policy Engine Must Decide'. Automatically maps data classification (PUBLIC, INTERNAL, CONFIDENTIAL, RESTRICTED) to allowed model routes (Cloud vs Air-Gapped).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79"/>
            <a:ext cx="7498079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23943"/>
            <a:ext cx="72237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284C7"/>
                </a:solidFill>
              </a:rPr>
              <a:t>TIER 4: AI TRANSFORMATION &amp; ORCHESTRATION  </a:t>
            </a:r>
            <a:r>
              <a:rPr sz="950" b="1">
                <a:solidFill>
                  <a:srgbClr val="7C3AED"/>
                </a:solidFill>
              </a:rPr>
              <a:t>[LangGraph Workflow • Multi-Provider Registry]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StateGraph pipeline (load_input → load_canonical → retrieve → brief → plan → generate → validate → verify → finalize). Isolated per-output savepoints ensure partial success tolerance.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7498079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92624"/>
            <a:ext cx="72237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0284C7"/>
                </a:solidFill>
              </a:rPr>
              <a:t>TIER 5: TRUST, GOVERNANCE &amp; PROVENANCE  </a:t>
            </a:r>
            <a:r>
              <a:rPr sz="950" b="1">
                <a:solidFill>
                  <a:srgbClr val="7C3AED"/>
                </a:solidFill>
              </a:rPr>
              <a:t>[Ed25519 Signatures • SHA-256 Digests • Ledger Boundary]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Fact verification checks numeric and date consistency. Human approval gate controls dissemination. Cryptographic integrity envelope sealed with asymmetric Ed25519 signatures.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463040"/>
            <a:ext cx="2926080" cy="4206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600200"/>
            <a:ext cx="2651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PERSISTENCE &amp; STORAGE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PostgreSQL 16 + pgvector: </a:t>
            </a:r>
            <a:r>
              <a:rPr sz="900">
                <a:solidFill>
                  <a:srgbClr val="475569"/>
                </a:solidFill>
              </a:rPr>
              <a:t>Relational persistence for jobs, outputs, verification logs, and 768-dim vector embeddings.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Redis 7 + RQ Worker: </a:t>
            </a:r>
            <a:r>
              <a:rPr sz="900">
                <a:solidFill>
                  <a:srgbClr val="475569"/>
                </a:solidFill>
              </a:rPr>
              <a:t>Asynchronous job queuing, worker task dispatch, and rate-limiting cache.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S3 / MinIO Object Store: </a:t>
            </a:r>
            <a:r>
              <a:rPr sz="900">
                <a:solidFill>
                  <a:srgbClr val="475569"/>
                </a:solidFill>
              </a:rPr>
              <a:t>Binary storage for raw uploaded sources, PPTX presentations, PNGs, and PDF packages.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F172A"/>
                </a:solidFill>
              </a:rPr>
              <a:t>• Cryptographic Ledger Boundary: </a:t>
            </a:r>
            <a:r>
              <a:rPr sz="900">
                <a:solidFill>
                  <a:srgbClr val="475569"/>
                </a:solidFill>
              </a:rPr>
              <a:t>Configuration-ready provenance ledger interface storing immutable SHA-256 digest trees.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</a:defRPr>
            </a:pPr>
            <a:r>
              <a:t>SIH 26154 • BLOCKCHAIN &amp; CYBERSECURITY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END-TO-END PROCESS WORKFLOW: FROM SOURCE TO SEVEN OUTPUTS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7498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99616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284C7"/>
                </a:solidFill>
              </a:rPr>
              <a:t>1. SOURCE INPUT  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User uploads PDF, DOCX, TXT or raw prompt with target audience, tone, and language directives.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5120640" cy="7498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68296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D9488"/>
                </a:solidFill>
              </a:rPr>
              <a:t>2. INGESTION &amp; SCAN  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Magic byte verification, ClamAV anti-malware scan, PII detection, text extraction &amp; chunking.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120640" cy="7498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36976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EA580C"/>
                </a:solidFill>
              </a:rPr>
              <a:t>3. CLASSIFICATION &amp; POLICY  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Evaluates PUBLIC, INTERNAL, CONFIDENTIAL, RESTRICTED. Denies cloud processing for sensitive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79"/>
            <a:ext cx="5120640" cy="7498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05655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7C3AED"/>
                </a:solidFill>
              </a:rPr>
              <a:t>4. COMPLIANT AI ROUTING  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Routes unclassified data to Cloud AI (Gemini) or air-gapped sensitive data to Private AI (Gemma 3 12B).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5120640" cy="7498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74336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284C7"/>
                </a:solidFill>
              </a:rPr>
              <a:t>5. EVIDENCE-GROUNDED RAG  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Task-aware vector retrieval formulates top-k citations into an immutable canonical semantic brief.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93268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17904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7C3AED"/>
                </a:solidFill>
              </a:rPr>
              <a:t>6. TRANSFORMATION &amp; GENERATION  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7 isolated output generators execute in parallel with nested savepoints and bounded regeneration.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42032"/>
            <a:ext cx="5212080" cy="93268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596896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D9488"/>
                </a:solidFill>
              </a:rPr>
              <a:t>7. FACT &amp; SCHEMA VERIFICATION  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Automated fact-checking: claim extraction, numeric consistency, date conflict detection, grounding scores.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21024"/>
            <a:ext cx="5212080" cy="93268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67588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EA580C"/>
                </a:solidFill>
              </a:rPr>
              <a:t>8. HUMAN APPROVAL GATE  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Governance review: policy overrides approval. Operators review and approve or reject before release.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00016"/>
            <a:ext cx="5212080" cy="93268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7548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F172A"/>
                </a:solidFill>
              </a:rPr>
              <a:t>9. DISSEMINATION &amp; SIGNING  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Controlled multi-channel release (LinkedIn, X, PPTX/PDF export). Sealed with SHA-256 and Ed25519.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806440"/>
            <a:ext cx="10698480" cy="7315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87044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166534"/>
                </a:solidFill>
              </a:defRPr>
            </a:pPr>
            <a:r>
              <a:t>THE 7 PARALLEL OUTPUT PACKAGES:  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[1] Executive Summary (Briefing)  •  [2] LinkedIn Post (Social)  •  [3] Policy Advisory (Impact &amp; Risks)  •  [4] Presentation Deck (.pptx)</a:t>
            </a:r>
            <a:br/>
            <a:r>
              <a:t>[5] X Micro-Copy (Thread)  •  [6] Infographic (PNG + PDF)  •  [7] Video Package (Structured Storyboard PDF + SRT Subtitles — NOT MP4)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</a:defRPr>
            </a:pPr>
            <a:r>
              <a:t>SIH 26154 • BLOCKCHAIN &amp; CYBERSECURITY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SECURITY, GOVERNANCE &amp; INNOVATION HIGHLIGHTS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72768"/>
            <a:ext cx="4983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EA580C"/>
                </a:solidFill>
              </a:defRPr>
            </a:pPr>
            <a:r>
              <a:t>POLICY-CONTROLLED AI ROUTING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Zero-LLM Authority: </a:t>
            </a:r>
            <a:r>
              <a:rPr sz="900">
                <a:solidFill>
                  <a:srgbClr val="475569"/>
                </a:solidFill>
              </a:rPr>
              <a:t>Policy engine is pure Python, deterministic, and offline. Never allows LLM to override access rules.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Information Classification: </a:t>
            </a:r>
            <a:r>
              <a:rPr sz="900">
                <a:solidFill>
                  <a:srgbClr val="475569"/>
                </a:solidFill>
              </a:rPr>
              <a:t>PUBLIC, INTERNAL, CONFIDENTIAL, RESTRICTED assigned at ingestion.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Air-Gapped Sovereign Enforcement: </a:t>
            </a:r>
            <a:r>
              <a:rPr sz="900">
                <a:solidFill>
                  <a:srgbClr val="475569"/>
                </a:solidFill>
              </a:rPr>
              <a:t>CONFIDENTIAL/RESTRICTED data is strictly forbidden from external cloud LLMs. Fails closed with HTTP 403.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Dissemination Restrictions: </a:t>
            </a:r>
            <a:r>
              <a:rPr sz="900">
                <a:solidFill>
                  <a:srgbClr val="475569"/>
                </a:solidFill>
              </a:rPr>
              <a:t>Restricted materials are hard-blocked from public social channels (LinkedIn/X).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463040"/>
            <a:ext cx="525780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572768"/>
            <a:ext cx="4983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284C7"/>
                </a:solidFill>
              </a:defRPr>
            </a:pPr>
            <a:r>
              <a:t>EVIDENCE-GROUNDED GENERATION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Single Canonical Brief: </a:t>
            </a:r>
            <a:r>
              <a:rPr sz="900">
                <a:solidFill>
                  <a:srgbClr val="475569"/>
                </a:solidFill>
              </a:rPr>
              <a:t>Extracts facts, claims, statistics, and entities once into CanonicalContent to prevent drift.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Top-k Citations: </a:t>
            </a:r>
            <a:r>
              <a:rPr sz="900">
                <a:solidFill>
                  <a:srgbClr val="475569"/>
                </a:solidFill>
              </a:rPr>
              <a:t>RAGService anchors generation to exact source chunk offsets with SHA-256 chunk hashes.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Bounded Regeneration: </a:t>
            </a:r>
            <a:r>
              <a:rPr sz="900">
                <a:solidFill>
                  <a:srgbClr val="475569"/>
                </a:solidFill>
              </a:rPr>
              <a:t>Pydantic output schema validation retries on structural errors without prompt re-injection.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Failure Isolation: </a:t>
            </a:r>
            <a:r>
              <a:rPr sz="900">
                <a:solidFill>
                  <a:srgbClr val="475569"/>
                </a:solidFill>
              </a:rPr>
              <a:t>Nested DB savepoints isolate output errors so one failure never cancels remaining siblings.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041648"/>
            <a:ext cx="4983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D9488"/>
                </a:solidFill>
              </a:defRPr>
            </a:pPr>
            <a:r>
              <a:t>DETERMINISTIC FACT VERIFICATION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Automated Claim Auditing: </a:t>
            </a:r>
            <a:r>
              <a:rPr sz="900">
                <a:solidFill>
                  <a:srgbClr val="475569"/>
                </a:solidFill>
              </a:rPr>
              <a:t>Extracts checkable claims from generated outputs and validates them against source chunks.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Numeric &amp; Date Conflict Checks: </a:t>
            </a:r>
            <a:r>
              <a:rPr sz="900">
                <a:solidFill>
                  <a:srgbClr val="475569"/>
                </a:solidFill>
              </a:rPr>
              <a:t>Flags metric discrepancies and mismatched timeline dates automatically as warnings/errors.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Consistency Scoring: </a:t>
            </a:r>
            <a:r>
              <a:rPr sz="900">
                <a:solidFill>
                  <a:srgbClr val="475569"/>
                </a:solidFill>
              </a:rPr>
              <a:t>Provides quantitative grounding and consistency scores on every completed deliverable.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On-Demand Verification: </a:t>
            </a:r>
            <a:r>
              <a:rPr sz="900">
                <a:solidFill>
                  <a:srgbClr val="475569"/>
                </a:solidFill>
              </a:rPr>
              <a:t>Standalone fact verifier assigns explicit SUPPORTED / CONTRADICTED / UNVERIFIED verdicts.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257800" cy="2331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041648"/>
            <a:ext cx="4983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200">
                <a:solidFill>
                  <a:srgbClr val="0F172A"/>
                </a:solidFill>
              </a:defRPr>
            </a:pPr>
            <a:r>
              <a:t>CRYPTOGRAPHIC TRUST &amp; AUDIT LINEAGE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SHA-256 Storage Digests: </a:t>
            </a:r>
            <a:r>
              <a:rPr sz="900">
                <a:solidFill>
                  <a:srgbClr val="475569"/>
                </a:solidFill>
              </a:rPr>
              <a:t>Calculates exact cryptographic hashes of all generated binary artifacts (.pptx, .png, .pdf, .srt).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Ed25519 Asymmetric Signatures: </a:t>
            </a:r>
            <a:r>
              <a:rPr sz="900">
                <a:solidFill>
                  <a:srgbClr val="475569"/>
                </a:solidFill>
              </a:rPr>
              <a:t>Authoritative production signing for non-repudiation. Zero private keys exposed in API or logs.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Human-in-the-Loop Approval: </a:t>
            </a:r>
            <a:r>
              <a:rPr sz="900">
                <a:solidFill>
                  <a:srgbClr val="475569"/>
                </a:solidFill>
              </a:rPr>
              <a:t>Dissemination policy trumps approval. Operators must sign off before external publication.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• Provenance Ledger Boundary: </a:t>
            </a:r>
            <a:r>
              <a:rPr sz="900">
                <a:solidFill>
                  <a:srgbClr val="475569"/>
                </a:solidFill>
              </a:rPr>
              <a:t>Pre-built ledger adapter ready for immutable audit tracking (FakeLedger mock in test, RealLedger in prod).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284C7"/>
                </a:solidFill>
              </a:defRPr>
            </a:pPr>
            <a:r>
              <a:t>SIH 26154 • BLOCKCHAIN &amp; CYBERSECURITY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IMPACT, DEPLOYMENT &amp; STRATEGIC EXTENSIBILITY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4983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0284C7"/>
                </a:solidFill>
              </a:defRPr>
            </a:pPr>
            <a:r>
              <a:t>QUANTIFIABLE INSTITUTIONAL IMPACT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★ 10x Acceleration in Collateral Synthesis: </a:t>
            </a:r>
            <a:r>
              <a:rPr sz="950">
                <a:solidFill>
                  <a:srgbClr val="475569"/>
                </a:solidFill>
              </a:rPr>
              <a:t>Transforms 50+ page policy documents or technical whitepapers into 7 audience-tailored formats in under 60 seconds.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★ Zero Cloud Leakage Guarantee: </a:t>
            </a:r>
            <a:r>
              <a:rPr sz="950">
                <a:solidFill>
                  <a:srgbClr val="475569"/>
                </a:solidFill>
              </a:rPr>
              <a:t>Rigid deterministic policy enforcement prevents confidential national or institutional intelligence from leaving sovereign infrastructure.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★ Elimination of Multi-Channel Drift: </a:t>
            </a:r>
            <a:r>
              <a:rPr sz="950">
                <a:solidFill>
                  <a:srgbClr val="475569"/>
                </a:solidFill>
              </a:rPr>
              <a:t>All outputs ground to a single canonical brief, ensuring quantitative metrics remain perfectly aligned across social, executive, and public channels.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★ Complete Auditability &amp; Non-Repudiation: </a:t>
            </a:r>
            <a:r>
              <a:rPr sz="950">
                <a:solidFill>
                  <a:srgbClr val="475569"/>
                </a:solidFill>
              </a:rPr>
              <a:t>Every artifact is sealed with SHA-256 digests and Ed25519 signatures, creating an unforgeable evidentiary chain.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72A"/>
                </a:solidFill>
              </a:rPr>
              <a:t>★ Drastic Reduction in Human Workload: </a:t>
            </a:r>
            <a:r>
              <a:rPr sz="950">
                <a:solidFill>
                  <a:srgbClr val="475569"/>
                </a:solidFill>
              </a:rPr>
              <a:t>Automates repetitive document rewriting, slide formatting, infographic structure, and script generation while keeping human review at the release gate.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57800" cy="23317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572768"/>
            <a:ext cx="4983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D9488"/>
                </a:solidFill>
              </a:defRPr>
            </a:pPr>
            <a:r>
              <a:t>DEPLOYMENT ARCHITECTURE &amp; ENVIRONMENTS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Hybrid Cloud Deployment: </a:t>
            </a:r>
            <a:r>
              <a:rPr sz="900">
                <a:solidFill>
                  <a:srgbClr val="475569"/>
                </a:solidFill>
              </a:rPr>
              <a:t>FastAPI backend + Next.js frontend deployed on cloud infrastructure using Gemini 2.5 Flash for public institutional transformation.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On-Premise / Air-Gapped Deployment: </a:t>
            </a:r>
            <a:r>
              <a:rPr sz="900">
                <a:solidFill>
                  <a:srgbClr val="475569"/>
                </a:solidFill>
              </a:rPr>
              <a:t>Self-contained Docker Compose stack with local Ollama/vLLM endpoints (Gemma 3 12B) and local ClamAV scanning for sensitive environments.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• Stateless Worker Scalability: </a:t>
            </a:r>
            <a:r>
              <a:rPr sz="900">
                <a:solidFill>
                  <a:srgbClr val="475569"/>
                </a:solidFill>
              </a:rPr>
              <a:t>Horizontal RQ workers consume Redis transformation queues independently with database-level concurrency locking.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57800" cy="233172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4133087"/>
            <a:ext cx="4983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7C3AED"/>
                </a:solidFill>
              </a:defRPr>
            </a:pPr>
            <a:r>
              <a:t>FUTURE ROADMAP &amp; SYSTEM EXTENSIBILITY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→ Extended Local Models: </a:t>
            </a:r>
            <a:r>
              <a:rPr sz="900">
                <a:solidFill>
                  <a:srgbClr val="475569"/>
                </a:solidFill>
              </a:rPr>
              <a:t>Plug-and-play provider registry architecture allows adding fine-tuned multilingual Indic LLMs (Sarvam, Bhashini).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→ Live Blockchain Integration: </a:t>
            </a:r>
            <a:r>
              <a:rPr sz="900">
                <a:solidFill>
                  <a:srgbClr val="475569"/>
                </a:solidFill>
              </a:rPr>
              <a:t>Active RealLedger boundary designed to plug directly into Hyperledger Fabric or Polygon enterprise nodes for government audit.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→ Additional Output Formats: </a:t>
            </a:r>
            <a:r>
              <a:rPr sz="900">
                <a:solidFill>
                  <a:srgbClr val="475569"/>
                </a:solidFill>
              </a:rPr>
              <a:t>Modular Generator ABC interface easily accommodates interactive dashboards, voice podcasts, and press releases.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F172A"/>
                </a:solidFill>
              </a:rPr>
              <a:t>→ Multi-Agency Dissemination: </a:t>
            </a:r>
            <a:r>
              <a:rPr sz="900">
                <a:solidFill>
                  <a:srgbClr val="475569"/>
                </a:solidFill>
              </a:rPr>
              <a:t>Configurable policy matrices support custom ministry approval chains and fine-grained department-level access rules.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